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A6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0E7DC"/>
                </a:solidFill>
                <a:latin typeface="Aptos"/>
              </a:defRPr>
            </a:pPr>
            <a:r>
              <a:t>OPERATING SYSTEMS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98755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Mini Linux Shell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with Background Job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03320"/>
            <a:ext cx="1097280" cy="64008"/>
          </a:xfrm>
          <a:prstGeom prst="rect">
            <a:avLst/>
          </a:prstGeom>
          <a:solidFill>
            <a:srgbClr val="DA6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658368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0E7DC"/>
                </a:solidFill>
                <a:latin typeface="Aptos"/>
              </a:defRPr>
            </a:pPr>
            <a:r>
              <a:t>Team G-3  |  C11 + POSIX  |  Ubuntu Linux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6675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Processes made visible, manageable, and testable.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09360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0E7DC"/>
                </a:solidFill>
                <a:latin typeface="Apto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D7167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92B30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B6C6B"/>
                </a:solidFill>
                <a:latin typeface="Aptos"/>
              </a:defRPr>
            </a:pPr>
            <a:r>
              <a:t>G-3  /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One command, many OS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A shell translates text into process creation, descriptor wiring, and lifecycle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Failure paths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45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Pipes, signals, and child exit states create resource and zombie risks.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0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Learning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88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Build a small working system whose process behavior can be explained and verified.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120640" cy="4434840"/>
          </a:xfrm>
          <a:prstGeom prst="roundRect">
            <a:avLst>
              <a:gd name="adj" fmla="val 8000"/>
            </a:avLst>
          </a:prstGeom>
          <a:solidFill>
            <a:srgbClr val="D0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44805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D7167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438912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Implement a compact Linux command interpreter.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Keep ownership explicit: the shell tracks only children it creates.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Demonstrate core POSIX interfaces without claiming full Bash compatibility.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D7167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92B30"/>
                </a:solidFill>
                <a:latin typeface="Aptos Display"/>
              </a:defRPr>
            </a:pPr>
            <a:r>
              <a:t>Six Modules, One Shell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B6C6B"/>
                </a:solidFill>
                <a:latin typeface="Aptos"/>
              </a:defRPr>
            </a:pPr>
            <a:r>
              <a:t>G-3  /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01  Parse and execute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Quoted words, syntax validation, fork/exec/wait.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02  Built-ins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45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cd, pwd, help, exit, plus jobs and kill.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0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03  Background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88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&amp;, process-group job records, Running/Done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120640" cy="4434840"/>
          </a:xfrm>
          <a:prstGeom prst="roundRect">
            <a:avLst>
              <a:gd name="adj" fmla="val 8000"/>
            </a:avLst>
          </a:prstGeom>
          <a:solidFill>
            <a:srgbClr val="D0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44805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D7167"/>
                </a:solidFill>
                <a:latin typeface="Aptos"/>
              </a:defRPr>
            </a:pPr>
            <a:r>
              <a:t>Process and I/O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438912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04  Signals and cleanup: SIGCHLD reaping; bounded TERM-to-KILL.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05  I/O: &lt;, &gt;, &gt;&gt;, and pipelines with pipe() and dup2().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06  Errors: parser checks, syscall diagnostics, descriptor cleanup.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D7167"/>
                </a:solidFill>
                <a:latin typeface="Aptos"/>
              </a:defRPr>
            </a:pPr>
            <a:r>
              <a:t>MODULE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92B30"/>
                </a:solidFill>
                <a:latin typeface="Aptos Display"/>
              </a:defRPr>
            </a:pPr>
            <a: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B6C6B"/>
                </a:solidFill>
                <a:latin typeface="Aptos"/>
              </a:defRPr>
            </a:pPr>
            <a:r>
              <a:t>G-3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0D7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Input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2432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main.c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96596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19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214884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Parser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62432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parser.c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96596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DA6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312" y="214884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Executor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62432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execute.c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96596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0D7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148840"/>
            <a:ext cx="2377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Job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262432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jobs.c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2304288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5B6C6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2304288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5B6C6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2" y="2304288"/>
            <a:ext cx="3200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5B6C6B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069080"/>
            <a:ext cx="3703320" cy="1097280"/>
          </a:xfrm>
          <a:prstGeom prst="roundRect">
            <a:avLst>
              <a:gd name="adj" fmla="val 8000"/>
            </a:avLst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4251960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builtins.c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645152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B6C6B"/>
                </a:solidFill>
                <a:latin typeface="Aptos"/>
              </a:defRPr>
            </a:pPr>
            <a:r>
              <a:t>Parent state + shell commands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4069080"/>
            <a:ext cx="3703320" cy="1097280"/>
          </a:xfrm>
          <a:prstGeom prst="roundRect">
            <a:avLst>
              <a:gd name="adj" fmla="val 8000"/>
            </a:avLst>
          </a:prstGeom>
          <a:solidFill>
            <a:srgbClr val="D0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251960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D7167"/>
                </a:solidFill>
                <a:latin typeface="Aptos"/>
              </a:defRPr>
            </a:pPr>
            <a:r>
              <a:t>shell.h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645152"/>
            <a:ext cx="3200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92B30"/>
                </a:solidFill>
                <a:latin typeface="Aptos"/>
              </a:defRPr>
            </a:pPr>
            <a:r>
              <a:t>Shared Command, Pipeline, Job, Shell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23560"/>
            <a:ext cx="99669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B6C6B"/>
                </a:solidFill>
                <a:latin typeface="Aptos"/>
              </a:defRPr>
            </a:pPr>
            <a:r>
              <a:t>The parser produces a pipeline; the executor creates processes; the job manager reaps owned children.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D7167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92B30"/>
                </a:solidFill>
                <a:latin typeface="Aptos Display"/>
              </a:defRPr>
            </a:pPr>
            <a:r>
              <a:t>Parsing and Built-ins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B6C6B"/>
                </a:solidFill>
                <a:latin typeface="Aptos"/>
              </a:defRPr>
            </a:pPr>
            <a:r>
              <a:t>G-3  /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Tokenize safely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Quotes and backslash escapes group words; operators are recognized outside quotes.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Reject malformed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45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Incomplete pipes, missing paths, duplicate redirects, and misplaced &amp; are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0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Keep parent semantics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88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Standalone cd and exit run in the shell process; pipeline built-ins run in children.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120640" cy="4434840"/>
          </a:xfrm>
          <a:prstGeom prst="roundRect">
            <a:avLst>
              <a:gd name="adj" fmla="val 8000"/>
            </a:avLst>
          </a:prstGeom>
          <a:solidFill>
            <a:srgbClr val="D0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44805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D7167"/>
                </a:solidFill>
                <a:latin typeface="Aptos"/>
              </a:defRPr>
            </a:pPr>
            <a:r>
              <a:t>Execution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438912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parse_line(line) -&gt; Pipeline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fork() one process per stage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setpgid() for shared job ownership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execvp() external commands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waitpid() foreground processes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D7167"/>
                </a:solidFill>
                <a:latin typeface="Aptos"/>
              </a:defRPr>
            </a:pPr>
            <a:r>
              <a:t>FILE DESCRIPTORS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92B30"/>
                </a:solidFill>
                <a:latin typeface="Aptos Display"/>
              </a:defRPr>
            </a:pPr>
            <a:r>
              <a:t>Pipelines and Redirection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B6C6B"/>
                </a:solidFill>
                <a:latin typeface="Aptos"/>
              </a:defRPr>
            </a:pPr>
            <a:r>
              <a:t>G-3  / 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Each adjacent pair shares a pipe; children dup the correct ends onto stdin/stdout.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Input and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45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&lt; opens read-only; &gt; truncates or creates; &gt;&gt; appends or creates.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0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Descriptor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88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Parent and children close unused ends, including partial setup failures.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120640" cy="4434840"/>
          </a:xfrm>
          <a:prstGeom prst="roundRect">
            <a:avLst>
              <a:gd name="adj" fmla="val 8000"/>
            </a:avLst>
          </a:prstGeom>
          <a:solidFill>
            <a:srgbClr val="D0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44805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D7167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438912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cat &lt; input.txt | sort &gt; sorted.txt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Pipe endpoints are connected first. Explicit redirection is then applied and overrides that stream for the stage.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Pipeline status is the final command's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D7167"/>
                </a:solidFill>
                <a:latin typeface="Aptos"/>
              </a:defRPr>
            </a:pPr>
            <a:r>
              <a:t>PROCESS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92B30"/>
                </a:solidFill>
                <a:latin typeface="Aptos Display"/>
              </a:defRPr>
            </a:pPr>
            <a:r>
              <a:t>Background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B6C6B"/>
                </a:solidFill>
                <a:latin typeface="Aptos"/>
              </a:defRPr>
            </a:pPr>
            <a:r>
              <a:t>G-3  / 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Register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A pipeline started with &amp; is recorded with job ID, PGID, member PIDs, and display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Reap in normal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45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SIGCHLD interrupts input; waitpid(WNOHANG) collects exits outside the signal handler.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0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Signal by job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88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kill %N resolves only a job from this shell's table and targets its process group.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120640" cy="4434840"/>
          </a:xfrm>
          <a:prstGeom prst="roundRect">
            <a:avLst>
              <a:gd name="adj" fmla="val 8000"/>
            </a:avLst>
          </a:prstGeom>
          <a:solidFill>
            <a:srgbClr val="D0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44805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D7167"/>
                </a:solidFill>
                <a:latin typeface="Aptos"/>
              </a:defRPr>
            </a:pPr>
            <a:r>
              <a:t>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438912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Running -&gt; Done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kill %N: SIGTERM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Wait up to 1 second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SIGKILL remaining group members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waitpid() every recorded child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D7167"/>
                </a:solidFill>
                <a:latin typeface="Aptos"/>
              </a:defRPr>
            </a:pPr>
            <a:r>
              <a:t>RESOURCE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92B30"/>
                </a:solidFill>
                <a:latin typeface="Aptos Display"/>
              </a:defRPr>
            </a:pPr>
            <a:r>
              <a:t>Safety and Error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B6C6B"/>
                </a:solidFill>
                <a:latin typeface="Aptos"/>
              </a:defRPr>
            </a:pPr>
            <a:r>
              <a:t>G-3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Signal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The handler does not print, allocate, or wait; child status is handled in the main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No unrelated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45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Only positive PGIDs stored for this shell's jobs are signaled; own shell group is guarded.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0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Failure cleanup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88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Pipe descriptors start invalid and only opened endpoints are closed on setup failure.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120640" cy="4434840"/>
          </a:xfrm>
          <a:prstGeom prst="roundRect">
            <a:avLst>
              <a:gd name="adj" fmla="val 8000"/>
            </a:avLst>
          </a:prstGeom>
          <a:solidFill>
            <a:srgbClr val="D0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44805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D7167"/>
                </a:solidFill>
                <a:latin typeface="Aptos"/>
              </a:defRPr>
            </a:pPr>
            <a:r>
              <a:t>Graceful shutdown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438912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On exit or EOF: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1. Send SIGTERM to recorded active job groups.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2. Poll/reap for a bounded grace period.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3. Send SIGKILL to remaining owned groups.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4. Wait for recorded children before freeing job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D7167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92B30"/>
                </a:solidFill>
                <a:latin typeface="Aptos Display"/>
              </a:defRPr>
            </a:pPr>
            <a:r>
              <a:t>Verified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B6C6B"/>
                </a:solidFill>
                <a:latin typeface="Aptos"/>
              </a:defRPr>
            </a:pPr>
            <a:r>
              <a:t>G-3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2834640" cy="3566160"/>
          </a:xfrm>
          <a:prstGeom prst="roundRect">
            <a:avLst>
              <a:gd name="adj" fmla="val 8000"/>
            </a:avLst>
          </a:prstGeom>
          <a:solidFill>
            <a:srgbClr val="0D7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228600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10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214884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integration tests</a:t>
            </a:r>
          </a:p>
          <a:p>
            <a:pPr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09160"/>
            <a:ext cx="2148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0E7DC"/>
                </a:solidFill>
                <a:latin typeface="Aptos"/>
              </a:defRPr>
            </a:pPr>
            <a:r>
              <a:t>GCC 13.3.0  |  Ubuntu 24.04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874519"/>
            <a:ext cx="67665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2B30"/>
                </a:solidFill>
                <a:latin typeface="Aptos"/>
              </a:defRPr>
            </a:pPr>
            <a:r>
              <a:t>Coverage includes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487168"/>
            <a:ext cx="6675120" cy="2834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B6C6B"/>
                </a:solidFill>
                <a:latin typeface="Aptos"/>
              </a:defRPr>
            </a:pPr>
            <a:r>
              <a:t>Built-ins and parent cd</a:t>
            </a:r>
          </a:p>
          <a:p>
            <a:pPr>
              <a:spcAft>
                <a:spcPts val="800"/>
              </a:spcAft>
              <a:defRPr sz="1600" b="0">
                <a:solidFill>
                  <a:srgbClr val="5B6C6B"/>
                </a:solidFill>
                <a:latin typeface="Aptos"/>
              </a:defRPr>
            </a:pPr>
            <a:r>
              <a:t>Quoting, pipelines, and three redirection modes</a:t>
            </a:r>
          </a:p>
          <a:p>
            <a:pPr>
              <a:spcAft>
                <a:spcPts val="800"/>
              </a:spcAft>
              <a:defRPr sz="1600" b="0">
                <a:solidFill>
                  <a:srgbClr val="5B6C6B"/>
                </a:solidFill>
                <a:latin typeface="Aptos"/>
              </a:defRPr>
            </a:pPr>
            <a:r>
              <a:t>Background state and safe job-scoped kill</a:t>
            </a:r>
          </a:p>
          <a:p>
            <a:pPr>
              <a:spcAft>
                <a:spcPts val="800"/>
              </a:spcAft>
              <a:defRPr sz="1600" b="0">
                <a:solidFill>
                  <a:srgbClr val="5B6C6B"/>
                </a:solidFill>
                <a:latin typeface="Aptos"/>
              </a:defRPr>
            </a:pPr>
            <a:r>
              <a:t>SIGTERM-resistant job and shutdown escalation</a:t>
            </a:r>
          </a:p>
          <a:p>
            <a:pPr>
              <a:spcAft>
                <a:spcPts val="800"/>
              </a:spcAft>
              <a:defRPr sz="1600" b="0">
                <a:solidFill>
                  <a:srgbClr val="5B6C6B"/>
                </a:solidFill>
                <a:latin typeface="Aptos"/>
              </a:defRPr>
            </a:pPr>
            <a:r>
              <a:t>Descriptor exhaustion and continued input</a:t>
            </a:r>
          </a:p>
          <a:p>
            <a:pPr>
              <a:spcAft>
                <a:spcPts val="800"/>
              </a:spcAft>
              <a:defRPr sz="1600" b="0">
                <a:solidFill>
                  <a:srgbClr val="5B6C6B"/>
                </a:solidFill>
                <a:latin typeface="Aptos"/>
              </a:defRPr>
            </a:pPr>
            <a:r>
              <a:t>Syntax errors and missing executable diagnostics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5623560"/>
            <a:ext cx="6858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D7167"/>
                </a:solidFill>
                <a:latin typeface="Aptos"/>
              </a:defRPr>
            </a:pPr>
            <a:r>
              <a:t>Reproduce: make -B &amp;&amp; make 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7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D7167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92B30"/>
                </a:solidFill>
                <a:latin typeface="Aptos Display"/>
              </a:defRPr>
            </a:pPr>
            <a:r>
              <a:t>Impact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B6C6B"/>
                </a:solidFill>
                <a:latin typeface="Aptos"/>
              </a:defRPr>
            </a:pPr>
            <a:r>
              <a:t>G-3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Run a built-in, a pipeline, file redirection, then start, inspect, and terminate a job.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45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Trace each command through parsing, fork/exec, descriptor wiring, and wait/reap.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0208"/>
            <a:ext cx="51206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92B30"/>
                </a:solidFill>
                <a:latin typeface="Aptos"/>
              </a:defRPr>
            </a:pPr>
            <a:r>
              <a:t>Extend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88536"/>
            <a:ext cx="50749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B6C6B"/>
                </a:solidFill>
                <a:latin typeface="Aptos"/>
              </a:defRPr>
            </a:pPr>
            <a:r>
              <a:t>Add stopped-job tracking, fg/bg, expansion, or richer syntax as future lab modules.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120640" cy="4434840"/>
          </a:xfrm>
          <a:prstGeom prst="roundRect">
            <a:avLst>
              <a:gd name="adj" fmla="val 8000"/>
            </a:avLst>
          </a:prstGeom>
          <a:solidFill>
            <a:srgbClr val="D0E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44805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D7167"/>
                </a:solidFill>
                <a:latin typeface="Aptos"/>
              </a:defRPr>
            </a:pPr>
            <a:r>
              <a:t>Scope, honestly stated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438912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This is an educational shell, not Bash.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No variable/command expansion, globbing, control flow, heredocs, fg/bg, or stopped-job table.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Background marker is accepted only at the end of a pipeline.</a:t>
            </a:r>
          </a:p>
          <a:p>
            <a:pPr>
              <a:spcAft>
                <a:spcPts val="800"/>
              </a:spcAft>
              <a:defRPr sz="1500" b="0">
                <a:solidFill>
                  <a:srgbClr val="192B30"/>
                </a:solidFill>
                <a:latin typeface="Aptos"/>
              </a:defRPr>
            </a:pPr>
            <a:r>
              <a:t>Commands execute with the user's normal permissions.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Linux Shell with Background Job Management</dc:title>
  <dc:subject>OS Hackathon project, Team G-3</dc:subject>
  <dc:creator>Team G-3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